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67" r:id="rId4"/>
    <p:sldId id="268" r:id="rId16"/>
    <p:sldId id="269" r:id="rId17"/>
    <p:sldId id="270" r:id="rId18"/>
    <p:sldId id="271" r:id="rId19"/>
    <p:sldId id="272" r:id="rId20"/>
    <p:sldId id="273" r:id="rId21"/>
    <p:sldId id="265" r:id="rId5"/>
  </p:sldIdLst>
  <p:sldSz cx="12192000" cy="6858000"/>
  <p:notesSz cx="6858000" cy="9144000"/>
  <p:embeddedFontLst>
    <p:embeddedFont>
      <p:font typeface="Open Sans"/>
      <p:bold r:id="rId6"/>
    </p:embeddedFont>
    <p:embeddedFont>
      <p:font typeface="Montserrat"/>
      <p:bold r:id="rId7"/>
    </p:embeddedFont>
    <p:embeddedFont>
      <p:font typeface="Calibri" panose="020F0502020204030204" pitchFamily="34" charset="0"/>
      <p:regular r:id="rId8"/>
      <p:bold r:id="rId9"/>
      <p:italic r:id="rId10"/>
      <p:boldItalic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65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font" Target="fonts/font6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Gênero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Gênero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00C2CB"/>
              </a:solidFill>
              <a:ln>
                <a:noFill/>
              </a:ln>
            </c:spPr>
          </c:dPt>
          <c:dPt>
            <c:idx val="2"/>
            <c:spPr>
              <a:solidFill>
                <a:srgbClr val="7DD3FC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Feminino  70,4%</c:v>
                </c:pt>
                <c:pt idx="1">
                  <c:v>Masculino  26,8%</c:v>
                </c:pt>
                <c:pt idx="2">
                  <c:v>Não binário  2,8%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19</c:v>
                </c:pt>
                <c:pt idx="2">
                  <c:v>2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Faixa etária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Faixa etária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00C2CB"/>
              </a:solidFill>
              <a:ln>
                <a:noFill/>
              </a:ln>
            </c:spPr>
          </c:dPt>
          <c:dPt>
            <c:idx val="2"/>
            <c:spPr>
              <a:solidFill>
                <a:srgbClr val="7DD3FC"/>
              </a:solidFill>
              <a:ln>
                <a:noFill/>
              </a:ln>
            </c:spPr>
          </c:dPt>
          <c:dPt>
            <c:idx val="3"/>
            <c:spPr>
              <a:solidFill>
                <a:srgbClr val="94A3B8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18–24 anos  52,1%</c:v>
                </c:pt>
                <c:pt idx="1">
                  <c:v>30 anos ou mais  35,2%</c:v>
                </c:pt>
                <c:pt idx="2">
                  <c:v>13–17 anos  7,0%</c:v>
                </c:pt>
                <c:pt idx="3">
                  <c:v>25–29 anos  5,6%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</c:v>
                </c:pt>
                <c:pt idx="1">
                  <c:v>25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Termo IA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Termo IA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7DD3FC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Conhece  76,1%</c:v>
                </c:pt>
                <c:pt idx="1">
                  <c:v>Não conhece  23,9%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17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Termo deepfake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Termo deepfake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7DD3FC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Conhece  81,7%</c:v>
                </c:pt>
                <c:pt idx="1">
                  <c:v>Não conhece  18,3%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58</c:v>
                </c:pt>
                <c:pt idx="1">
                  <c:v>13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Ferramenta de detecção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Ferramenta de detecção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00C2CB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Não conhece  57,7%</c:v>
                </c:pt>
                <c:pt idx="1">
                  <c:v>Conhece  42,3%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30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Exposição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Exposição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7DD3FC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Sofreu ou conhece vítima  40,8%</c:v>
                </c:pt>
                <c:pt idx="1">
                  <c:v>Não  59,2%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42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Reação nesses casos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Reação nesses casos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00C2CB"/>
              </a:solidFill>
              <a:ln>
                <a:noFill/>
              </a:ln>
            </c:spPr>
          </c:dPt>
          <c:dPt>
            <c:idx val="2"/>
            <c:spPr>
              <a:solidFill>
                <a:srgbClr val="7DD3FC"/>
              </a:solidFill>
              <a:ln>
                <a:noFill/>
              </a:ln>
            </c:spPr>
          </c:dPt>
          <c:dPt>
            <c:idx val="3"/>
            <c:spPr>
              <a:solidFill>
                <a:srgbClr val="94A3B8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Silêncio  37,9%</c:v>
                </c:pt>
                <c:pt idx="1">
                  <c:v>Não se sabe  27,6%</c:v>
                </c:pt>
                <c:pt idx="2">
                  <c:v>Denúncia à polícia  24,1%</c:v>
                </c:pt>
                <c:pt idx="3">
                  <c:v>Adulto de confiança  10,3%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</c:v>
                </c:pt>
                <c:pt idx="1">
                  <c:v>8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Mulheres  ·  17 de 50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Mulheres  ·  17 de 50</c:v>
                </c:pt>
              </c:strCache>
            </c:strRef>
          </c:tx>
          <c:dPt>
            <c:idx val="0"/>
            <c:spPr>
              <a:solidFill>
                <a:srgbClr val="016F89"/>
              </a:solidFill>
              <a:ln>
                <a:noFill/>
              </a:ln>
            </c:spPr>
          </c:dPt>
          <c:dPt>
            <c:idx val="1"/>
            <c:spPr>
              <a:solidFill>
                <a:srgbClr val="00C2CB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Não conhece  66,0%</c:v>
                </c:pt>
                <c:pt idx="1">
                  <c:v>Conhece  34,0%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17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 algn="ctr">
              <a:defRPr/>
            </a:pPr>
            <a:r>
              <a:rPr sz="14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Homens  ·  12 de 19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Homens  ·  12 de 19</c:v>
                </c:pt>
              </c:strCache>
            </c:strRef>
          </c:tx>
          <c:dPt>
            <c:idx val="0"/>
            <c:spPr>
              <a:solidFill>
                <a:srgbClr val="00C2CB"/>
              </a:solidFill>
              <a:ln>
                <a:noFill/>
              </a:ln>
            </c:spPr>
          </c:dPt>
          <c:dPt>
            <c:idx val="1"/>
            <c:spPr>
              <a:solidFill>
                <a:srgbClr val="016F89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Conhece  63,2%</c:v>
                </c:pt>
                <c:pt idx="1">
                  <c:v>Não conhece  36,8%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7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Open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2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5429250"/>
            <a:ext cx="10972800" cy="9715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5429250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98215" y="744378"/>
            <a:ext cx="5822043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 smtClean="0">
                <a:solidFill>
                  <a:srgbClr val="7DD3FC"/>
                </a:solidFill>
                <a:latin typeface="Montserrat"/>
              </a:rPr>
              <a:t>X</a:t>
            </a:r>
            <a:r>
              <a:rPr lang="pt-BR" sz="1600" b="1" i="0" u="none" dirty="0" smtClean="0">
                <a:solidFill>
                  <a:srgbClr val="7DD3FC"/>
                </a:solidFill>
                <a:latin typeface="Montserrat"/>
              </a:rPr>
              <a:t>IV</a:t>
            </a:r>
            <a:r>
              <a:rPr sz="1600" b="1" i="0" u="none" dirty="0" smtClean="0">
                <a:solidFill>
                  <a:srgbClr val="7DD3FC"/>
                </a:solidFill>
                <a:latin typeface="Montserrat"/>
              </a:rPr>
              <a:t> </a:t>
            </a:r>
            <a:r>
              <a:rPr sz="1600" b="1" i="0" u="none" dirty="0">
                <a:solidFill>
                  <a:srgbClr val="7DD3FC"/>
                </a:solidFill>
                <a:latin typeface="Montserrat"/>
              </a:rPr>
              <a:t>JORNADA DE INICIAÇÃO CIENTÍFICA </a:t>
            </a:r>
            <a:r>
              <a:rPr lang="pt-BR" sz="1600" b="1" i="0" u="none" dirty="0" smtClean="0">
                <a:solidFill>
                  <a:srgbClr val="7DD3FC"/>
                </a:solidFill>
                <a:latin typeface="Montserrat"/>
              </a:rPr>
              <a:t>DA UNESA </a:t>
            </a:r>
            <a:r>
              <a:rPr lang="pt-BR" sz="1600" b="1" i="0" u="none" dirty="0" smtClean="0">
                <a:solidFill>
                  <a:srgbClr val="7DD3FC"/>
                </a:solidFill>
                <a:latin typeface="Montserrat"/>
              </a:rPr>
              <a:t>(</a:t>
            </a:r>
            <a:r>
              <a:rPr sz="1600" b="1" i="0" u="none" dirty="0" smtClean="0">
                <a:solidFill>
                  <a:srgbClr val="7DD3FC"/>
                </a:solidFill>
                <a:latin typeface="Montserrat"/>
              </a:rPr>
              <a:t>2026</a:t>
            </a:r>
            <a:r>
              <a:rPr lang="pt-BR" sz="1600" b="1" i="0" u="none" dirty="0" smtClean="0">
                <a:solidFill>
                  <a:srgbClr val="7DD3FC"/>
                </a:solidFill>
                <a:latin typeface="Montserrat"/>
              </a:rPr>
              <a:t>)</a:t>
            </a:r>
            <a:endParaRPr sz="1600" b="1" i="0" u="none" dirty="0">
              <a:solidFill>
                <a:srgbClr val="7DD3FC"/>
              </a:solidFill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" y="2282279"/>
            <a:ext cx="11582400" cy="1809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F3FC"/>
                </a:solidFill>
                <a:latin typeface="Montserrat"/>
                <a:ea typeface="Montserrat"/>
                <a:cs typeface="Montserrat"/>
              </a:rPr>
              <a:t>CIÊNCIA DA COMPUTAÇÃO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653754"/>
            <a:ext cx="10101262" cy="9746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Facilidade no acesso às tecnologias potencialmente invasivas aos jovens: Deepfake, riscos e algoritmos.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80395"/>
            <a:ext cx="10000000" cy="2308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0F2FE"/>
                </a:solidFill>
                <a:latin typeface="Open Sans"/>
                <a:ea typeface="Open Sans"/>
                <a:cs typeface="Open Sans"/>
              </a:rPr>
              <a:t>Resultados do questionário com 71 respondentes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667375"/>
            <a:ext cx="7000000" cy="20774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Autor: Lucas Matias Cabral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953125"/>
            <a:ext cx="7800000" cy="209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AE6FD"/>
                </a:solidFill>
                <a:latin typeface="Open Sans"/>
                <a:ea typeface="Open Sans"/>
                <a:cs typeface="Open Sans"/>
              </a:rPr>
              <a:t>Orientador: Prof. Fábio Cardoso da Silva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219825"/>
            <a:ext cx="7800000" cy="1809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C5FD"/>
                </a:solidFill>
                <a:latin typeface="Open Sans"/>
                <a:ea typeface="Open Sans"/>
                <a:cs typeface="Open Sans"/>
              </a:rPr>
              <a:t>Ciência da Computação  |  Universidade Estácio de Sá  |  Rio de Janeiro</a:t>
            </a:r>
          </a:p>
        </p:txBody>
      </p:sp>
      <p:pic>
        <p:nvPicPr>
          <p:cNvPr id="14" name="Picture 9"/>
          <p:cNvPicPr/>
          <p:nvPr/>
        </p:nvPicPr>
        <p:blipFill>
          <a:blip r:embed="rId3"/>
          <a:stretch/>
        </p:blipFill>
        <p:spPr>
          <a:xfrm>
            <a:off x="609600" y="183702"/>
            <a:ext cx="1385455" cy="1174321"/>
          </a:xfrm>
          <a:prstGeom prst="rect">
            <a:avLst/>
          </a:prstGeom>
          <a:ln w="0">
            <a:noFill/>
          </a:ln>
        </p:spPr>
      </p:pic>
      <p:pic>
        <p:nvPicPr>
          <p:cNvPr id="17" name="Imagem 16"/>
          <p:cNvPicPr/>
          <p:nvPr/>
        </p:nvPicPr>
        <p:blipFill>
          <a:blip r:embed="rId4"/>
          <a:srcRect r="26719"/>
          <a:stretch/>
        </p:blipFill>
        <p:spPr>
          <a:xfrm>
            <a:off x="9426633" y="5657849"/>
            <a:ext cx="2368203" cy="1072605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1. Objetivo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80000"/>
            <a:ext cx="11100000" cy="5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Objetivo geral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Analisar os impactos do acesso de jovens ao deepfake: o funcionamento dos algoritmos e as consequências do uso indevido, com ênfase na escola.</a:t>
            </a:r>
          </a:p>
          <a:p>
            <a:pPr algn="l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Quando uma tecnologia é invasiva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Quando viola imagem, voz ou expressão sem consentimento. O deepfake convence quem assiste, então o dano não depende de fraude financeira: a confiança e a privacidade já foram quebradas.</a:t>
            </a:r>
          </a:p>
          <a:p>
            <a:pPr algn="l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O que a pesquisa percorre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Conceituar a tecnologia invasiva e documentar o algoritmo.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Mostrar o que tirou a barreira técnica e espalhou o conteúdo.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Medir, com 71 respostas, conhecimento, exposição e reação.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2. Os algoritmos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00000"/>
            <a:ext cx="11100000" cy="6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A rede não cola um rosto. Ela lê geometria, luz e movimento e devolve uma matriz nova de pixels.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0000" y="1580000"/>
            <a:ext cx="3600000" cy="250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140000"/>
          <a:lstStyle/>
          <a:p>
            <a:pPr algn="l">
              <a:lnSpc>
                <a:spcPts val="2000"/>
              </a:lnSpc>
              <a:spcBef>
                <a:spcPts val="200"/>
              </a:spcBef>
              <a:spcAft>
                <a:spcPts val="600"/>
              </a:spcAft>
            </a:pPr>
            <a:r>
              <a:rPr sz="16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Autoencoder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Um encoder compartilhado extrai a expressão. Decoders separados trocam a identidade: o rosto de uma pessoa fica com o gesto da outra. A média dos pixels borra a textura.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1580000"/>
            <a:ext cx="3600000" cy="5715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80000" y="1580000"/>
            <a:ext cx="3600000" cy="250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140000"/>
          <a:lstStyle/>
          <a:p>
            <a:pPr algn="l">
              <a:lnSpc>
                <a:spcPts val="2000"/>
              </a:lnSpc>
              <a:spcBef>
                <a:spcPts val="200"/>
              </a:spcBef>
              <a:spcAft>
                <a:spcPts val="600"/>
              </a:spcAft>
            </a:pPr>
            <a:r>
              <a:rPr sz="16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GAN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O gerador fabrica a mídia. O discriminador aponta o que ainda parece falso. A disputa entre os dois reduz o borrão que o autoencoder deixava.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80000" y="1580000"/>
            <a:ext cx="3600000" cy="5715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60000" y="1580000"/>
            <a:ext cx="3600000" cy="250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140000"/>
          <a:lstStyle/>
          <a:p>
            <a:pPr algn="l">
              <a:lnSpc>
                <a:spcPts val="2000"/>
              </a:lnSpc>
              <a:spcBef>
                <a:spcPts val="200"/>
              </a:spcBef>
              <a:spcAft>
                <a:spcPts val="600"/>
              </a:spcAft>
            </a:pPr>
            <a:r>
              <a:rPr sz="16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Difusão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A imagem vira ruído e o modelo aprende o caminho de volta. Pela precisão, é a arquitetura mais usada hoje para deepfake.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0000" y="1580000"/>
            <a:ext cx="3600000" cy="5715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0000" y="4400000"/>
            <a:ext cx="2500000" cy="46000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Propagação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0000" y="4460000"/>
            <a:ext cx="360000" cy="3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00000" y="4400000"/>
            <a:ext cx="2500000" cy="46000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Perda (MSE)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60000" y="4460000"/>
            <a:ext cx="360000" cy="3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80000" y="4400000"/>
            <a:ext cx="2500000" cy="46000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Retropropagação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0000" y="4460000"/>
            <a:ext cx="360000" cy="3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60000" y="4400000"/>
            <a:ext cx="2500000" cy="46000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Gradiente descendente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000000"/>
            <a:ext cx="111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O ciclo recomeça com pesos aleatórios e se repete milhares de vezes, até o erro se aproximar de zero. É esse loop que torna a mídia convincente.</a:t>
            </a:r>
          </a:p>
        </p:txBody>
      </p:sp>
    </p:spTree>
    <p:extLst>
      <p:ext uri="{BB962C8B-B14F-4D97-AF65-F5344CB8AC3E}">
        <p14:creationId xmlns:p14="http://schemas.microsoft.com/office/powerpoint/2010/main" val="168794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2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5143500"/>
            <a:ext cx="10972800" cy="1104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33850" y="3676650"/>
            <a:ext cx="3924300" cy="457200"/>
          </a:xfrm>
          <a:prstGeom prst="roundRect">
            <a:avLst>
              <a:gd name="adj" fmla="val 50000"/>
            </a:avLst>
          </a:prstGeom>
          <a:solidFill>
            <a:srgbClr val="1A8096"/>
          </a:solidFill>
          <a:ln w="9525">
            <a:solidFill>
              <a:srgbClr val="338E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95750" y="2228850"/>
            <a:ext cx="4000500" cy="552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FFFFFF"/>
                </a:solidFill>
                <a:latin typeface="Montserrat"/>
              </a:rPr>
              <a:t>Obrigado(a)!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81625"/>
            <a:ext cx="3048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BAE6FD"/>
                </a:solidFill>
                <a:latin typeface="Open Sans"/>
              </a:rPr>
              <a:t>APOIO &amp; AGÊNCIAS DE FOMENTO: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850" y="3800475"/>
            <a:ext cx="3924300" cy="3693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F3FC"/>
                </a:solidFill>
                <a:latin typeface="Open Sans"/>
                <a:ea typeface="Open Sans"/>
                <a:cs typeface="Open Sans"/>
              </a:rPr>
              <a:t>lucasmatias2005@gmail.com</a:t>
            </a:r>
          </a:p>
        </p:txBody>
      </p:sp>
      <p:pic>
        <p:nvPicPr>
          <p:cNvPr id="12" name="Picture 9"/>
          <p:cNvPicPr/>
          <p:nvPr/>
        </p:nvPicPr>
        <p:blipFill>
          <a:blip r:embed="rId3"/>
          <a:stretch/>
        </p:blipFill>
        <p:spPr>
          <a:xfrm>
            <a:off x="5290090" y="645596"/>
            <a:ext cx="1452456" cy="1375808"/>
          </a:xfrm>
          <a:prstGeom prst="rect">
            <a:avLst/>
          </a:prstGeom>
          <a:ln w="0">
            <a:noFill/>
          </a:ln>
        </p:spPr>
      </p:pic>
      <p:pic>
        <p:nvPicPr>
          <p:cNvPr id="13" name="Imagem 12"/>
          <p:cNvPicPr/>
          <p:nvPr/>
        </p:nvPicPr>
        <p:blipFill>
          <a:blip r:embed="rId4"/>
          <a:srcRect r="26719"/>
          <a:stretch/>
        </p:blipFill>
        <p:spPr>
          <a:xfrm>
            <a:off x="4903819" y="5445925"/>
            <a:ext cx="2384360" cy="1265948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3. O acesso ficou fácil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80000"/>
            <a:ext cx="11100000" cy="5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Da especialização ao plug-and-play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O que exigia semanas de trabalho técnico virou aplicativo gratuito e alguns minutos. O modelo atual não precisa mais ser treinado para cada pessoa.</a:t>
            </a:r>
          </a:p>
          <a:p>
            <a:pPr algn="l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Como o conteúdo se espalha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A rede encurta o intervalo entre criar e circular a mídia.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Mensagens e redes sociais divulgam rápido e dificultam a contenção depois da primeira partilha.</a:t>
            </a:r>
          </a:p>
          <a:p>
            <a:pPr algn="l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O jovem já está dentro desse ambiente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TIC Kids Online 2025: quase dois terços dos usuários de 9 a 17 anos já usam IA. A principal finalidade é a escola (59%); cerca de 10% usam para questões pessoais.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Unicef (2026): cerca de dois terços das crianças temem que a IA falsifique fotos ou vídeos de cunho sexual contra elas.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Habilidade para operar o aplicativo não é a mesma coisa que prever a consequência ética e legal.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4. Amostra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00000"/>
            <a:ext cx="11100000" cy="5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71 respostas válidas, em sua maioria no Rio de Janeiro. Frequências, qui-quadrado e teste exato de Fisher (p &lt; 0,05).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50000" y="1480000"/>
          <a:ext cx="5600000" cy="39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100000" y="1480000"/>
          <a:ext cx="5700000" cy="39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02920" y="5480000"/>
            <a:ext cx="111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45,1% ainda cursam o ensino superior. A faixa de 13 a 17 anos tem 5 pessoas: os dados da infância citados adiante vêm da literatura, não desta amostra.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5. Resultados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880000"/>
            <a:ext cx="11100000" cy="4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Conhecer o nome não é saber se defender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280000" y="1400000"/>
          <a:ext cx="3800000" cy="40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4230000" y="1400000"/>
          <a:ext cx="3800000" cy="40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8180000" y="1400000"/>
          <a:ext cx="3800000" cy="400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502920" y="5480000"/>
            <a:ext cx="111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N = 71. A fatia escura da terceira pizza é quem não sabe verificar a mídia. São quase 40 pontos abaixo de quem só conhece o termo.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6. Exposição e reação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880000"/>
            <a:ext cx="1110000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À direita, só entram os casos em que a pessoa sofreu um ataque ou conhece uma vítima.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400000" y="1380000"/>
          <a:ext cx="5600000" cy="40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100000" y="1380000"/>
          <a:ext cx="5700000" cy="40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02920" y="5480000"/>
            <a:ext cx="111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Silêncio e “não se sabe” somam 65,5%. A minoria procurou a polícia ou um adulto.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7. Gênero e defesa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00000"/>
            <a:ext cx="11100000" cy="6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Conhecimento de ferramentas de detecção. A comparação é feminino × masculino (n = 69); não binário tem 2 pessoas.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400000" y="1500000"/>
          <a:ext cx="5600000" cy="38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100000" y="1500000"/>
          <a:ext cx="5700000" cy="38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02920" y="5400000"/>
            <a:ext cx="111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Fisher p = 0,054: cerca de 3,3 vezes mais chance de os homens conhecerem a ferramenta. No limite da significância. Escolaridade, renda e idade não explicaram esse conhecimento.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9080"/>
          </a:xfrm>
          <a:prstGeom prst="rect">
            <a:avLst/>
          </a:prstGeom>
          <a:solidFill>
            <a:srgbClr val="016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10325"/>
            <a:ext cx="12192000" cy="4476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00980"/>
            <a:ext cx="12192000" cy="381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10325"/>
            <a:ext cx="12192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0500"/>
            <a:ext cx="8600000" cy="320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8. Impactos e conclusão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53200"/>
            <a:ext cx="7800000" cy="1615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Montserrat"/>
                <a:ea typeface="Montserrat"/>
                <a:cs typeface="Montserrat"/>
              </a:rPr>
              <a:t>Deepfake, riscos e algoritmos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264765"/>
            <a:ext cx="14010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X</a:t>
            </a:r>
            <a:r>
              <a:rPr lang="pt-BR" sz="1050" b="1" dirty="0" smtClean="0">
                <a:solidFill>
                  <a:srgbClr val="A5F3FC"/>
                </a:solidFill>
                <a:latin typeface="Montserrat"/>
              </a:rPr>
              <a:t>IV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 </a:t>
            </a:r>
            <a:r>
              <a:rPr sz="1050" b="1" i="0" u="none" dirty="0">
                <a:solidFill>
                  <a:srgbClr val="A5F3FC"/>
                </a:solidFill>
                <a:latin typeface="Montserrat"/>
              </a:rPr>
              <a:t>JIC UNESA 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(</a:t>
            </a:r>
            <a:r>
              <a:rPr sz="1050" b="1" i="0" u="none" dirty="0" smtClean="0">
                <a:solidFill>
                  <a:srgbClr val="A5F3FC"/>
                </a:solidFill>
                <a:latin typeface="Montserrat"/>
              </a:rPr>
              <a:t>2026</a:t>
            </a:r>
            <a:r>
              <a:rPr lang="pt-BR" sz="1050" b="1" i="0" u="none" dirty="0" smtClean="0">
                <a:solidFill>
                  <a:srgbClr val="A5F3FC"/>
                </a:solidFill>
                <a:latin typeface="Montserrat"/>
              </a:rPr>
              <a:t>)</a:t>
            </a:r>
            <a:endParaRPr sz="1050" b="1" i="0" u="none" dirty="0">
              <a:solidFill>
                <a:srgbClr val="A5F3FC"/>
              </a:solidFill>
              <a:latin typeface="Montserrat"/>
            </a:endParaRPr>
          </a:p>
        </p:txBody>
      </p:sp>
      <p:pic>
        <p:nvPicPr>
          <p:cNvPr id="35" name="Picture 9"/>
          <p:cNvPicPr/>
          <p:nvPr/>
        </p:nvPicPr>
        <p:blipFill>
          <a:blip r:embed="rId2"/>
          <a:stretch/>
        </p:blipFill>
        <p:spPr>
          <a:xfrm>
            <a:off x="9716240" y="125002"/>
            <a:ext cx="461819" cy="391625"/>
          </a:xfrm>
          <a:prstGeom prst="rect">
            <a:avLst/>
          </a:prstGeom>
          <a:ln w="0">
            <a:noFill/>
          </a:ln>
        </p:spPr>
      </p:pic>
      <p:sp>
        <p:nvSpPr>
          <p:cNvPr id="36" name="TextBox 35"/>
          <p:cNvSpPr txBox="1"/>
          <p:nvPr/>
        </p:nvSpPr>
        <p:spPr>
          <a:xfrm>
            <a:off x="502920" y="960000"/>
            <a:ext cx="11100000" cy="5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O que o uso indevido provoca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Nudificação: uma foto cotidiana vira nudez sintética.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Na literatura do relatório, cerca de 95% da pornografia deepfake mira mulheres e meninas. O Unicef estima 1,2 milhão de crianças atingidas, em 11 países, no ano anterior ao relatório de 2026.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Na escola, isso vira exposição e cyberbullying. O silêncio medido na amostra deixa o conteúdo circular.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O grupo mais visado é o que, nesta amostra, menos conhece as ferramentas de defesa.</a:t>
            </a:r>
          </a:p>
          <a:p>
            <a:pPr algn="l">
              <a:lnSpc>
                <a:spcPts val="2400"/>
              </a:lnSpc>
              <a:spcBef>
                <a:spcPts val="1200"/>
              </a:spcBef>
              <a:spcAft>
                <a:spcPts val="600"/>
              </a:spcAft>
            </a:pPr>
            <a:r>
              <a:rPr sz="2000" b="1" i="0">
                <a:solidFill>
                  <a:srgbClr val="016F89"/>
                </a:solidFill>
                <a:latin typeface="Montserrat"/>
                <a:ea typeface="Montserrat"/>
                <a:cs typeface="Montserrat"/>
              </a:rPr>
              <a:t>Conclusão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O acesso ficou fácil, e a familiaridade com o termo não virou capacidade de verificação.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A exposição já é concreta, e a reação mais comum é o silêncio.</a:t>
            </a:r>
          </a:p>
          <a:p>
            <a:pPr algn="l">
              <a:lnSpc>
                <a:spcPts val="2200"/>
              </a:lnSpc>
              <a:spcBef>
                <a:spcPts val="100"/>
              </a:spcBef>
              <a:spcAft>
                <a:spcPts val="300"/>
              </a:spcAft>
            </a:pPr>
            <a:r>
              <a:rPr sz="1700" b="1" i="0">
                <a:solidFill>
                  <a:srgbClr val="016F89"/>
                </a:solidFill>
                <a:latin typeface="Open Sans"/>
                <a:ea typeface="Open Sans"/>
                <a:cs typeface="Open Sans"/>
              </a:rPr>
              <a:t>•  </a:t>
            </a:r>
            <a:r>
              <a:rPr sz="1700" b="0" i="0">
                <a:solidFill>
                  <a:srgbClr val="1E293B"/>
                </a:solidFill>
                <a:latin typeface="Open Sans"/>
                <a:ea typeface="Open Sans"/>
                <a:cs typeface="Open Sans"/>
              </a:rPr>
              <a:t>O enfrentamento apontado é o letramento digital na educação básica.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</a:pPr>
            <a:r>
              <a:rPr sz="1400" b="0" i="0">
                <a:solidFill>
                  <a:srgbClr val="475569"/>
                </a:solidFill>
                <a:latin typeface="Open Sans"/>
                <a:ea typeface="Open Sans"/>
                <a:cs typeface="Open Sans"/>
              </a:rPr>
              <a:t>Próximo passo do relatório: ampliar a amostra e testar ações de letramento com o público infantojuvenil.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115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Open Sans</vt:lpstr>
      <vt:lpstr>Arial</vt:lpstr>
      <vt:lpstr>Montserrat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User</cp:lastModifiedBy>
  <cp:revision>9</cp:revision>
  <dcterms:created xsi:type="dcterms:W3CDTF">2013-01-27T09:14:16Z</dcterms:created>
  <dcterms:modified xsi:type="dcterms:W3CDTF">2026-10-01T20:10:08Z</dcterms:modified>
  <cp:category/>
</cp:coreProperties>
</file>