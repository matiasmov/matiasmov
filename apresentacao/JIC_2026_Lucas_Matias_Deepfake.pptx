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16"/>
    <p:sldId id="269" r:id="rId17"/>
    <p:sldId id="270" r:id="rId18"/>
    <p:sldId id="265" r:id="rId5"/>
  </p:sldIdLst>
  <p:sldSz cx="12192000" cy="6858000"/>
  <p:notesSz cx="6858000" cy="9144000"/>
  <p:embeddedFontLst>
    <p:embeddedFont>
      <p:font typeface="Open Sans"/>
      <p:bold r:id="rId6"/>
    </p:embeddedFont>
    <p:embeddedFont>
      <p:font typeface="Montserrat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429250"/>
            <a:ext cx="10972800" cy="971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4292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98215" y="744378"/>
            <a:ext cx="582204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 smtClean="0">
                <a:solidFill>
                  <a:srgbClr val="7DD3FC"/>
                </a:solidFill>
                <a:latin typeface="Montserrat"/>
              </a:rPr>
              <a:t>X</a:t>
            </a:r>
            <a:r>
              <a:rPr lang="pt-BR" sz="1600" b="1" i="0" u="none" dirty="0" smtClean="0">
                <a:solidFill>
                  <a:srgbClr val="7DD3FC"/>
                </a:solidFill>
                <a:latin typeface="Montserrat"/>
              </a:rPr>
              <a:t>IV</a:t>
            </a:r>
            <a:r>
              <a:rPr sz="1600" b="1" i="0" u="none" dirty="0" smtClean="0">
                <a:solidFill>
                  <a:srgbClr val="7DD3FC"/>
                </a:solidFill>
                <a:latin typeface="Montserrat"/>
              </a:rPr>
              <a:t> </a:t>
            </a:r>
            <a:r>
              <a:rPr sz="1600" b="1" i="0" u="none" dirty="0">
                <a:solidFill>
                  <a:srgbClr val="7DD3FC"/>
                </a:solidFill>
                <a:latin typeface="Montserrat"/>
              </a:rPr>
              <a:t>JORNADA DE INICIAÇÃO CIENTÍFICA </a:t>
            </a:r>
            <a:r>
              <a:rPr lang="pt-BR" sz="1600" b="1" i="0" u="none" dirty="0" smtClean="0">
                <a:solidFill>
                  <a:srgbClr val="7DD3FC"/>
                </a:solidFill>
                <a:latin typeface="Montserrat"/>
              </a:rPr>
              <a:t>DA UNESA </a:t>
            </a:r>
            <a:r>
              <a:rPr lang="pt-BR" sz="1600" b="1" i="0" u="none" dirty="0" smtClean="0">
                <a:solidFill>
                  <a:srgbClr val="7DD3FC"/>
                </a:solidFill>
                <a:latin typeface="Montserrat"/>
              </a:rPr>
              <a:t>(</a:t>
            </a:r>
            <a:r>
              <a:rPr sz="1600" b="1" i="0" u="none" dirty="0" smtClean="0">
                <a:solidFill>
                  <a:srgbClr val="7DD3FC"/>
                </a:solidFill>
                <a:latin typeface="Montserrat"/>
              </a:rPr>
              <a:t>2026</a:t>
            </a:r>
            <a:r>
              <a:rPr lang="pt-BR" sz="1600" b="1" i="0" u="none" dirty="0" smtClean="0">
                <a:solidFill>
                  <a:srgbClr val="7DD3FC"/>
                </a:solidFill>
                <a:latin typeface="Montserrat"/>
              </a:rPr>
              <a:t>)</a:t>
            </a:r>
            <a:endParaRPr sz="1600" b="1" i="0" u="none" dirty="0">
              <a:solidFill>
                <a:srgbClr val="7DD3FC"/>
              </a:solidFill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2282279"/>
            <a:ext cx="11582400" cy="1809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F3FC"/>
                </a:solidFill>
                <a:latin typeface="Montserrat"/>
                <a:ea typeface="Montserrat"/>
                <a:cs typeface="Montserrat"/>
              </a:rPr>
              <a:t>CIÊNCIA DA COMPUTAÇÃO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53754"/>
            <a:ext cx="10101262" cy="9746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Facilidade no acesso às tecnologias potencialmente invasivas aos jovens: Deepfake, riscos e algoritmos.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80395"/>
            <a:ext cx="10000000" cy="2308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0F2FE"/>
                </a:solidFill>
                <a:latin typeface="Open Sans"/>
                <a:ea typeface="Open Sans"/>
                <a:cs typeface="Open Sans"/>
              </a:rPr>
              <a:t>Resultados do questionário com 71 respondentes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667375"/>
            <a:ext cx="7000000" cy="2077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Autor: Lucas Matias Cabral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953125"/>
            <a:ext cx="7800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AE6FD"/>
                </a:solidFill>
                <a:latin typeface="Open Sans"/>
                <a:ea typeface="Open Sans"/>
                <a:cs typeface="Open Sans"/>
              </a:rPr>
              <a:t>Orientador: Prof. Fábio Cardoso da Silva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19825"/>
            <a:ext cx="7800000" cy="1809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C5FD"/>
                </a:solidFill>
                <a:latin typeface="Open Sans"/>
                <a:ea typeface="Open Sans"/>
                <a:cs typeface="Open Sans"/>
              </a:rPr>
              <a:t>Ciência da Computação  |  Universidade Estácio de Sá  |  Rio de Janeiro</a:t>
            </a:r>
          </a:p>
        </p:txBody>
      </p:sp>
      <p:pic>
        <p:nvPicPr>
          <p:cNvPr id="14" name="Picture 9"/>
          <p:cNvPicPr/>
          <p:nvPr/>
        </p:nvPicPr>
        <p:blipFill>
          <a:blip r:embed="rId3"/>
          <a:stretch/>
        </p:blipFill>
        <p:spPr>
          <a:xfrm>
            <a:off x="609600" y="183702"/>
            <a:ext cx="1385455" cy="1174321"/>
          </a:xfrm>
          <a:prstGeom prst="rect">
            <a:avLst/>
          </a:prstGeom>
          <a:ln w="0">
            <a:noFill/>
          </a:ln>
        </p:spPr>
      </p:pic>
      <p:pic>
        <p:nvPicPr>
          <p:cNvPr id="17" name="Imagem 16"/>
          <p:cNvPicPr/>
          <p:nvPr/>
        </p:nvPicPr>
        <p:blipFill>
          <a:blip r:embed="rId4"/>
          <a:srcRect r="26719"/>
          <a:stretch/>
        </p:blipFill>
        <p:spPr>
          <a:xfrm>
            <a:off x="9426633" y="5657849"/>
            <a:ext cx="2368203" cy="107260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9080"/>
          </a:xfrm>
          <a:prstGeom prst="rect">
            <a:avLst/>
          </a:prstGeom>
          <a:solidFill>
            <a:srgbClr val="016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10325"/>
            <a:ext cx="12192000" cy="447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00980"/>
            <a:ext cx="12192000" cy="381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032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190500"/>
            <a:ext cx="8600000" cy="3206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1. Objetivo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7800000" cy="1615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Deepfake, riscos e algoritmos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7950" y="264765"/>
            <a:ext cx="14010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X</a:t>
            </a:r>
            <a:r>
              <a:rPr lang="pt-BR" sz="1050" b="1" dirty="0" smtClean="0">
                <a:solidFill>
                  <a:srgbClr val="A5F3FC"/>
                </a:solidFill>
                <a:latin typeface="Montserrat"/>
              </a:rPr>
              <a:t>IV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 </a:t>
            </a:r>
            <a:r>
              <a:rPr sz="1050" b="1" i="0" u="none" dirty="0">
                <a:solidFill>
                  <a:srgbClr val="A5F3FC"/>
                </a:solidFill>
                <a:latin typeface="Montserrat"/>
              </a:rPr>
              <a:t>JIC UNESA 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(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2026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)</a:t>
            </a:r>
            <a:endParaRPr sz="1050" b="1" i="0" u="none" dirty="0">
              <a:solidFill>
                <a:srgbClr val="A5F3FC"/>
              </a:solidFill>
              <a:latin typeface="Montserrat"/>
            </a:endParaRPr>
          </a:p>
        </p:txBody>
      </p:sp>
      <p:pic>
        <p:nvPicPr>
          <p:cNvPr id="35" name="Picture 9"/>
          <p:cNvPicPr/>
          <p:nvPr/>
        </p:nvPicPr>
        <p:blipFill>
          <a:blip r:embed="rId2"/>
          <a:stretch/>
        </p:blipFill>
        <p:spPr>
          <a:xfrm>
            <a:off x="9716240" y="125002"/>
            <a:ext cx="461819" cy="391625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502920" y="980000"/>
            <a:ext cx="11186000" cy="5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Objetivo geral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Analisar os impactos do acesso de jovens ao deepfake: como a tecnologia funciona e o que o uso indevido provoca, sobretudo na escola.</a:t>
            </a:r>
          </a:p>
          <a:p>
            <a:pPr algn="l">
              <a:lnSpc>
                <a:spcPts val="2600"/>
              </a:lnSpc>
              <a:spcBef>
                <a:spcPts val="140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O problema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Aplicativos plug-and-play tiraram a barreira técnica. Conhecer o nome da ferramenta não significa saber detectar, reagir ou se proteger.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9080"/>
          </a:xfrm>
          <a:prstGeom prst="rect">
            <a:avLst/>
          </a:prstGeom>
          <a:solidFill>
            <a:srgbClr val="016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10325"/>
            <a:ext cx="12192000" cy="447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00980"/>
            <a:ext cx="12192000" cy="381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032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190500"/>
            <a:ext cx="8600000" cy="3206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2. Metodologia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7800000" cy="1615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Deepfake, riscos e algoritmos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7950" y="264765"/>
            <a:ext cx="14010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X</a:t>
            </a:r>
            <a:r>
              <a:rPr lang="pt-BR" sz="1050" b="1" dirty="0" smtClean="0">
                <a:solidFill>
                  <a:srgbClr val="A5F3FC"/>
                </a:solidFill>
                <a:latin typeface="Montserrat"/>
              </a:rPr>
              <a:t>IV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 </a:t>
            </a:r>
            <a:r>
              <a:rPr sz="1050" b="1" i="0" u="none" dirty="0">
                <a:solidFill>
                  <a:srgbClr val="A5F3FC"/>
                </a:solidFill>
                <a:latin typeface="Montserrat"/>
              </a:rPr>
              <a:t>JIC UNESA 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(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2026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)</a:t>
            </a:r>
            <a:endParaRPr sz="1050" b="1" i="0" u="none" dirty="0">
              <a:solidFill>
                <a:srgbClr val="A5F3FC"/>
              </a:solidFill>
              <a:latin typeface="Montserrat"/>
            </a:endParaRPr>
          </a:p>
        </p:txBody>
      </p:sp>
      <p:pic>
        <p:nvPicPr>
          <p:cNvPr id="35" name="Picture 9"/>
          <p:cNvPicPr/>
          <p:nvPr/>
        </p:nvPicPr>
        <p:blipFill>
          <a:blip r:embed="rId2"/>
          <a:stretch/>
        </p:blipFill>
        <p:spPr>
          <a:xfrm>
            <a:off x="9716240" y="125002"/>
            <a:ext cx="461819" cy="391625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502920" y="980000"/>
            <a:ext cx="11186000" cy="5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Como a evidência foi construída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Revisão dos algoritmos geradores: autoencoders, GANs e modelos de difusão.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Questionário quantitativo: 71 respostas válidas, em sua maioria no Rio de Janeiro.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Frequências, percentuais e cruzamentos (qui-quadrado e teste exato de Fisher, p &lt; 0,05).</a:t>
            </a:r>
          </a:p>
          <a:p>
            <a:pPr algn="l">
              <a:lnSpc>
                <a:spcPts val="2600"/>
              </a:lnSpc>
              <a:spcBef>
                <a:spcPts val="140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Quem respondeu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70,4% mulheres  ·  52,1% entre 18 e 24 anos  ·  45,1% com ensino superior incompleto.</a:t>
            </a:r>
          </a:p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Open Sans"/>
                <a:ea typeface="Open Sans"/>
                <a:cs typeface="Open Sans"/>
              </a:rPr>
              <a:t>A faixa de 13 a 17 anos é 7,0% da amostra (5 pessoas). Os impactos sobre a infância, mais adiante, vêm da literatura citada no relatório.</a:t>
            </a:r>
          </a:p>
        </p:txBody>
      </p:sp>
    </p:spTree>
    <p:extLst>
      <p:ext uri="{BB962C8B-B14F-4D97-AF65-F5344CB8AC3E}">
        <p14:creationId xmlns:p14="http://schemas.microsoft.com/office/powerpoint/2010/main" val="168794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143500"/>
            <a:ext cx="10972800" cy="1104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33850" y="3676650"/>
            <a:ext cx="3924300" cy="457200"/>
          </a:xfrm>
          <a:prstGeom prst="roundRect">
            <a:avLst>
              <a:gd name="adj" fmla="val 50000"/>
            </a:avLst>
          </a:prstGeom>
          <a:solidFill>
            <a:srgbClr val="1A8096"/>
          </a:solidFill>
          <a:ln w="9525">
            <a:solidFill>
              <a:srgbClr val="338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14350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95750" y="2228850"/>
            <a:ext cx="400050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Montserrat"/>
              </a:rPr>
              <a:t>Obrigado(a)!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81625"/>
            <a:ext cx="3048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BAE6FD"/>
                </a:solidFill>
                <a:latin typeface="Open Sans"/>
              </a:rPr>
              <a:t>APOIO &amp; AGÊNCIAS DE FOMENTO: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850" y="3800475"/>
            <a:ext cx="3924300" cy="3693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F3FC"/>
                </a:solidFill>
                <a:latin typeface="Open Sans"/>
                <a:ea typeface="Open Sans"/>
                <a:cs typeface="Open Sans"/>
              </a:rPr>
              <a:t>lucasmatias2005@gmail.com</a:t>
            </a:r>
          </a:p>
        </p:txBody>
      </p:sp>
      <p:pic>
        <p:nvPicPr>
          <p:cNvPr id="12" name="Picture 9"/>
          <p:cNvPicPr/>
          <p:nvPr/>
        </p:nvPicPr>
        <p:blipFill>
          <a:blip r:embed="rId3"/>
          <a:stretch/>
        </p:blipFill>
        <p:spPr>
          <a:xfrm>
            <a:off x="5290090" y="645596"/>
            <a:ext cx="1452456" cy="1375808"/>
          </a:xfrm>
          <a:prstGeom prst="rect">
            <a:avLst/>
          </a:prstGeom>
          <a:ln w="0">
            <a:noFill/>
          </a:ln>
        </p:spPr>
      </p:pic>
      <p:pic>
        <p:nvPicPr>
          <p:cNvPr id="13" name="Imagem 12"/>
          <p:cNvPicPr/>
          <p:nvPr/>
        </p:nvPicPr>
        <p:blipFill>
          <a:blip r:embed="rId4"/>
          <a:srcRect r="26719"/>
          <a:stretch/>
        </p:blipFill>
        <p:spPr>
          <a:xfrm>
            <a:off x="4903819" y="5445925"/>
            <a:ext cx="2384360" cy="1265948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9080"/>
          </a:xfrm>
          <a:prstGeom prst="rect">
            <a:avLst/>
          </a:prstGeom>
          <a:solidFill>
            <a:srgbClr val="016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10325"/>
            <a:ext cx="12192000" cy="447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00980"/>
            <a:ext cx="12192000" cy="381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032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190500"/>
            <a:ext cx="8600000" cy="3206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3. Resultados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7800000" cy="1615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Deepfake, riscos e algoritmos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7950" y="264765"/>
            <a:ext cx="14010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X</a:t>
            </a:r>
            <a:r>
              <a:rPr lang="pt-BR" sz="1050" b="1" dirty="0" smtClean="0">
                <a:solidFill>
                  <a:srgbClr val="A5F3FC"/>
                </a:solidFill>
                <a:latin typeface="Montserrat"/>
              </a:rPr>
              <a:t>IV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 </a:t>
            </a:r>
            <a:r>
              <a:rPr sz="1050" b="1" i="0" u="none" dirty="0">
                <a:solidFill>
                  <a:srgbClr val="A5F3FC"/>
                </a:solidFill>
                <a:latin typeface="Montserrat"/>
              </a:rPr>
              <a:t>JIC UNESA 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(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2026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)</a:t>
            </a:r>
            <a:endParaRPr sz="1050" b="1" i="0" u="none" dirty="0">
              <a:solidFill>
                <a:srgbClr val="A5F3FC"/>
              </a:solidFill>
              <a:latin typeface="Montserrat"/>
            </a:endParaRPr>
          </a:p>
        </p:txBody>
      </p:sp>
      <p:pic>
        <p:nvPicPr>
          <p:cNvPr id="35" name="Picture 9"/>
          <p:cNvPicPr/>
          <p:nvPr/>
        </p:nvPicPr>
        <p:blipFill>
          <a:blip r:embed="rId2"/>
          <a:stretch/>
        </p:blipFill>
        <p:spPr>
          <a:xfrm>
            <a:off x="9716240" y="125002"/>
            <a:ext cx="461819" cy="391625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502920" y="980000"/>
            <a:ext cx="11186000" cy="5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Conhecer o termo não é saber se defender</a:t>
            </a:r>
          </a:p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Open Sans"/>
                <a:ea typeface="Open Sans"/>
                <a:cs typeface="Open Sans"/>
              </a:rPr>
              <a:t>N = 71</a:t>
            </a:r>
          </a:p>
          <a:p>
            <a:pPr algn="l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sz="28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81,7%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   conhecem o termo deepfake (58 pessoas)</a:t>
            </a:r>
          </a:p>
          <a:p>
            <a:pPr algn="l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sz="28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76,1%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   conhecem o termo inteligência artificial (54)</a:t>
            </a:r>
          </a:p>
          <a:p>
            <a:pPr algn="l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sz="28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57,7%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   não conhecem ferramenta de detecção (41)</a:t>
            </a:r>
          </a:p>
          <a:p>
            <a:pPr algn="l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sz="28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42,3%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   sabem verificar se uma mídia é falsa (30)</a:t>
            </a:r>
          </a:p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Open Sans"/>
                <a:ea typeface="Open Sans"/>
                <a:cs typeface="Open Sans"/>
              </a:rPr>
              <a:t>São quase 40 pontos percentuais entre “já ouvi falar” e “sei checar”.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9080"/>
          </a:xfrm>
          <a:prstGeom prst="rect">
            <a:avLst/>
          </a:prstGeom>
          <a:solidFill>
            <a:srgbClr val="016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10325"/>
            <a:ext cx="12192000" cy="447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00980"/>
            <a:ext cx="12192000" cy="381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032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190500"/>
            <a:ext cx="8600000" cy="3206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4. Problemas encontrados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7800000" cy="1615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Deepfake, riscos e algoritmos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7950" y="264765"/>
            <a:ext cx="14010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X</a:t>
            </a:r>
            <a:r>
              <a:rPr lang="pt-BR" sz="1050" b="1" dirty="0" smtClean="0">
                <a:solidFill>
                  <a:srgbClr val="A5F3FC"/>
                </a:solidFill>
                <a:latin typeface="Montserrat"/>
              </a:rPr>
              <a:t>IV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 </a:t>
            </a:r>
            <a:r>
              <a:rPr sz="1050" b="1" i="0" u="none" dirty="0">
                <a:solidFill>
                  <a:srgbClr val="A5F3FC"/>
                </a:solidFill>
                <a:latin typeface="Montserrat"/>
              </a:rPr>
              <a:t>JIC UNESA 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(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2026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)</a:t>
            </a:r>
            <a:endParaRPr sz="1050" b="1" i="0" u="none" dirty="0">
              <a:solidFill>
                <a:srgbClr val="A5F3FC"/>
              </a:solidFill>
              <a:latin typeface="Montserrat"/>
            </a:endParaRPr>
          </a:p>
        </p:txBody>
      </p:sp>
      <p:pic>
        <p:nvPicPr>
          <p:cNvPr id="35" name="Picture 9"/>
          <p:cNvPicPr/>
          <p:nvPr/>
        </p:nvPicPr>
        <p:blipFill>
          <a:blip r:embed="rId2"/>
          <a:stretch/>
        </p:blipFill>
        <p:spPr>
          <a:xfrm>
            <a:off x="9716240" y="125002"/>
            <a:ext cx="461819" cy="391625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502920" y="980000"/>
            <a:ext cx="11186000" cy="5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sz="28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40,8%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   já sofreram um ataque ou conhecem uma vítima (29 de 71)</a:t>
            </a:r>
          </a:p>
          <a:p>
            <a:pPr algn="l">
              <a:lnSpc>
                <a:spcPts val="2600"/>
              </a:lnSpc>
              <a:spcBef>
                <a:spcPts val="140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Reação nesses 29 casos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37,9% ficaram em silêncio (11)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27,6% não se sabe como a vítima reagiu (8)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24,1% denunciaram à polícia (7)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10,3% pediram ajuda a um adulto (3)</a:t>
            </a:r>
          </a:p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Open Sans"/>
                <a:ea typeface="Open Sans"/>
                <a:cs typeface="Open Sans"/>
              </a:rPr>
              <a:t>65,5% dos casos relatados não indicam busca por amparo.</a:t>
            </a:r>
          </a:p>
          <a:p>
            <a:pPr algn="l">
              <a:lnSpc>
                <a:spcPts val="2600"/>
              </a:lnSpc>
              <a:spcBef>
                <a:spcPts val="140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Quem conhece ferramenta de detecção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Mulheres: 34,0% (17 de 50)    ·    Homens: 63,2% (12 de 19)</a:t>
            </a:r>
          </a:p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Open Sans"/>
                <a:ea typeface="Open Sans"/>
                <a:cs typeface="Open Sans"/>
              </a:rPr>
              <a:t>Teste exato de Fisher, p = 0,054. Homens com cerca de 3,3 vezes mais chance. Está no limite da significância (subgrupo masculino n = 19). Escolaridade, renda e idade não explicaram esse conhecimento.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9080"/>
          </a:xfrm>
          <a:prstGeom prst="rect">
            <a:avLst/>
          </a:prstGeom>
          <a:solidFill>
            <a:srgbClr val="016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10325"/>
            <a:ext cx="12192000" cy="447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00980"/>
            <a:ext cx="12192000" cy="381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032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190500"/>
            <a:ext cx="8600000" cy="32060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5. Impactos e conclusão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7800000" cy="1615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Deepfake, riscos e algoritmos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7950" y="264765"/>
            <a:ext cx="14010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X</a:t>
            </a:r>
            <a:r>
              <a:rPr lang="pt-BR" sz="1050" b="1" dirty="0" smtClean="0">
                <a:solidFill>
                  <a:srgbClr val="A5F3FC"/>
                </a:solidFill>
                <a:latin typeface="Montserrat"/>
              </a:rPr>
              <a:t>IV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 </a:t>
            </a:r>
            <a:r>
              <a:rPr sz="1050" b="1" i="0" u="none" dirty="0">
                <a:solidFill>
                  <a:srgbClr val="A5F3FC"/>
                </a:solidFill>
                <a:latin typeface="Montserrat"/>
              </a:rPr>
              <a:t>JIC UNESA 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(</a:t>
            </a:r>
            <a:r>
              <a:rPr sz="1050" b="1" i="0" u="none" dirty="0" smtClean="0">
                <a:solidFill>
                  <a:srgbClr val="A5F3FC"/>
                </a:solidFill>
                <a:latin typeface="Montserrat"/>
              </a:rPr>
              <a:t>2026</a:t>
            </a:r>
            <a:r>
              <a:rPr lang="pt-BR" sz="1050" b="1" i="0" u="none" dirty="0" smtClean="0">
                <a:solidFill>
                  <a:srgbClr val="A5F3FC"/>
                </a:solidFill>
                <a:latin typeface="Montserrat"/>
              </a:rPr>
              <a:t>)</a:t>
            </a:r>
            <a:endParaRPr sz="1050" b="1" i="0" u="none" dirty="0">
              <a:solidFill>
                <a:srgbClr val="A5F3FC"/>
              </a:solidFill>
              <a:latin typeface="Montserrat"/>
            </a:endParaRPr>
          </a:p>
        </p:txBody>
      </p:sp>
      <p:pic>
        <p:nvPicPr>
          <p:cNvPr id="35" name="Picture 9"/>
          <p:cNvPicPr/>
          <p:nvPr/>
        </p:nvPicPr>
        <p:blipFill>
          <a:blip r:embed="rId2"/>
          <a:stretch/>
        </p:blipFill>
        <p:spPr>
          <a:xfrm>
            <a:off x="9716240" y="125002"/>
            <a:ext cx="461819" cy="391625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502920" y="980000"/>
            <a:ext cx="11186000" cy="5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Impacto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O silêncio deixa o conteúdo circular. Na escola, o deepfake vira exposição e cyberbullying.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Na literatura do relatório, cerca de 95% da pornografia deepfake atinge mulheres e meninas — o mesmo grupo que, nesta amostra, menos conhece as ferramentas de defesa.</a:t>
            </a:r>
          </a:p>
          <a:p>
            <a:pPr algn="l">
              <a:lnSpc>
                <a:spcPts val="2600"/>
              </a:lnSpc>
              <a:spcBef>
                <a:spcPts val="1400"/>
              </a:spcBef>
              <a:spcAft>
                <a:spcPts val="800"/>
              </a:spcAft>
            </a:pPr>
            <a:r>
              <a:rPr sz="2000" b="1" i="0">
                <a:solidFill>
                  <a:srgbClr val="016F89"/>
                </a:solidFill>
                <a:latin typeface="Montserrat"/>
                <a:ea typeface="Montserrat"/>
                <a:cs typeface="Montserrat"/>
              </a:rPr>
              <a:t>Conclusão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Familiaridade alta e capacidade de defesa baixa.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A exposição já chega a 40,8% da amostra, e a reação mais comum é o silêncio.</a:t>
            </a:r>
          </a:p>
          <a:p>
            <a:pPr algn="l">
              <a:lnSpc>
                <a:spcPts val="2300"/>
              </a:lnSpc>
              <a:spcBef>
                <a:spcPts val="100"/>
              </a:spcBef>
              <a:spcAft>
                <a:spcPts val="400"/>
              </a:spcAft>
            </a:pPr>
            <a:r>
              <a:rPr sz="1800" b="1" i="0">
                <a:solidFill>
                  <a:srgbClr val="016F89"/>
                </a:solidFill>
                <a:latin typeface="Open Sans"/>
                <a:ea typeface="Open Sans"/>
                <a:cs typeface="Open Sans"/>
              </a:rPr>
              <a:t>•  </a:t>
            </a:r>
            <a:r>
              <a:rPr sz="1800" b="0" i="0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O enfrentamento apontado é o letramento digital na educação básica.</a:t>
            </a:r>
          </a:p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latin typeface="Open Sans"/>
                <a:ea typeface="Open Sans"/>
                <a:cs typeface="Open Sans"/>
              </a:rPr>
              <a:t>Próximo passo do relatório: ampliar a amostra e testar ações de letramento com o público infantojuvenil.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115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Open Sans</vt:lpstr>
      <vt:lpstr>Arial</vt:lpstr>
      <vt:lpstr>Montserrat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2026-10-01T20:10:08Z</dcterms:modified>
  <cp:category/>
</cp:coreProperties>
</file>