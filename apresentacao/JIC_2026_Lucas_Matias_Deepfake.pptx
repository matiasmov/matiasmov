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8ED59D-C85F-4B33-A26C-B1FDA2F2E0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D94476F-3399-4188-9934-2B9BD3F011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4EA215E-4697-4D56-8482-79DC8DDA9A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E9307BF-36E2-486F-9979-EC46936D23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C6C4B16-685E-4F7F-BCEA-DAD901D19F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B51E946-5AB2-4603-9DE1-C5B48DE746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BB81B39-C33D-464A-A5FD-E3DCAEDFCF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1FA35FD0-35E3-48A1-83D1-33B2C8B286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D954055-814A-4BE1-8EB9-1A48F2CA1B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2016331-F1A7-4A08-B728-5EAA6E7AA5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E4E9FAF-CC25-4989-AE11-ECAD5FAAD8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0F0729-4458-4F5C-B395-684AE257AE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16EF8B-2ECD-4099-9AA5-E94C70F7FD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44CAC6-13B3-409D-BDED-10334A53A3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596BD9-D1B8-44E2-925C-3E02343DD7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666021-02D8-4B56-B8CD-D475D2E41DE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2CD9667-C0DB-411C-B06A-4A062A5736A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691F87-565F-4666-B646-BC0131ED006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F84188-8DBF-4F5B-B25E-36B6ECD803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EFAE6A-B78A-4C17-8266-33AD53C55B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C36A65-6D82-4473-8FD2-5EA61648660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3FCCBB-752D-454E-A712-99CB2E92B54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2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68" name="Rectangle 2"/>
          <p:cNvSpPr/>
          <p:nvPr/>
        </p:nvSpPr>
        <p:spPr>
          <a:xfrm>
            <a:off x="609480" y="5429160"/>
            <a:ext cx="10972440" cy="97128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609480" y="5429160"/>
            <a:ext cx="10972440" cy="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5943240" y="744480"/>
            <a:ext cx="573156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7dd3fc"/>
                </a:solidFill>
                <a:latin typeface="Montserrat"/>
              </a:rPr>
              <a:t>X</a:t>
            </a:r>
            <a:r>
              <a:rPr b="1" lang="pt-BR" sz="1600" spc="-1" strike="noStrike">
                <a:solidFill>
                  <a:srgbClr val="7dd3fc"/>
                </a:solidFill>
                <a:latin typeface="Montserrat"/>
              </a:rPr>
              <a:t>IV</a:t>
            </a:r>
            <a:r>
              <a:rPr b="1" lang="en-US" sz="1600" spc="-1" strike="noStrike">
                <a:solidFill>
                  <a:srgbClr val="7dd3fc"/>
                </a:solidFill>
                <a:latin typeface="Montserrat"/>
              </a:rPr>
              <a:t> JORNADA DE INICIAÇÃO CIENTÍFICA </a:t>
            </a:r>
            <a:r>
              <a:rPr b="1" lang="pt-BR" sz="1600" spc="-1" strike="noStrike">
                <a:solidFill>
                  <a:srgbClr val="7dd3fc"/>
                </a:solidFill>
                <a:latin typeface="Montserrat"/>
              </a:rPr>
              <a:t>DA UNESA (</a:t>
            </a:r>
            <a:r>
              <a:rPr b="1" lang="en-US" sz="1600" spc="-1" strike="noStrike">
                <a:solidFill>
                  <a:srgbClr val="7dd3fc"/>
                </a:solidFill>
                <a:latin typeface="Montserrat"/>
              </a:rPr>
              <a:t>2026</a:t>
            </a:r>
            <a:r>
              <a:rPr b="1" lang="pt-BR" sz="1600" spc="-1" strike="noStrike">
                <a:solidFill>
                  <a:srgbClr val="7dd3fc"/>
                </a:solidFill>
                <a:latin typeface="Montserrat"/>
              </a:rPr>
              <a:t>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609480" y="2282400"/>
            <a:ext cx="1158192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599"/>
              </a:lnSpc>
            </a:pPr>
            <a:r>
              <a:rPr b="1" lang="en-US" sz="1200" spc="-1" strike="noStrike">
                <a:solidFill>
                  <a:srgbClr val="a5f3fc"/>
                </a:solidFill>
                <a:latin typeface="Calibri"/>
                <a:ea typeface="Calibri"/>
              </a:rPr>
              <a:t>CIÊNCIA DA COMPUTAÇÃO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609480" y="2653920"/>
            <a:ext cx="10100880" cy="97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599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Facilidade no acesso às tecnologias potencialmente invasivas aos jovens: Deepfake, riscos e algoritmos.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Box 9"/>
          <p:cNvSpPr/>
          <p:nvPr/>
        </p:nvSpPr>
        <p:spPr>
          <a:xfrm>
            <a:off x="609480" y="3880440"/>
            <a:ext cx="999972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800"/>
              </a:lnSpc>
            </a:pPr>
            <a:r>
              <a:rPr b="0" lang="en-US" sz="1500" spc="-1" strike="noStrike">
                <a:solidFill>
                  <a:srgbClr val="e0f2fe"/>
                </a:solidFill>
                <a:latin typeface="Calibri"/>
                <a:ea typeface="Calibri"/>
              </a:rPr>
              <a:t>Resultados do questionário com 71 respondentes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609480" y="5667480"/>
            <a:ext cx="6999480" cy="2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8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Autor: Lucas Matias Cabral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609480" y="5952960"/>
            <a:ext cx="779976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599"/>
              </a:lnSpc>
            </a:pPr>
            <a:r>
              <a:rPr b="0" lang="en-US" sz="1300" spc="-1" strike="noStrike">
                <a:solidFill>
                  <a:srgbClr val="bae6fd"/>
                </a:solidFill>
                <a:latin typeface="Calibri"/>
                <a:ea typeface="Calibri"/>
              </a:rPr>
              <a:t>Orientador: Prof. Fábio Cardoso da Silva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2"/>
          <p:cNvSpPr/>
          <p:nvPr/>
        </p:nvSpPr>
        <p:spPr>
          <a:xfrm>
            <a:off x="609480" y="6219720"/>
            <a:ext cx="77997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599"/>
              </a:lnSpc>
            </a:pPr>
            <a:r>
              <a:rPr b="0" lang="en-US" sz="1200" spc="-1" strike="noStrike">
                <a:solidFill>
                  <a:srgbClr val="93c5fd"/>
                </a:solidFill>
                <a:latin typeface="Calibri"/>
                <a:ea typeface="Calibri"/>
              </a:rPr>
              <a:t>Ciência da Computação  |  Universidade Estácio de Sá  |  Rio de Janeiro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" name="Picture 9" descr=""/>
          <p:cNvPicPr/>
          <p:nvPr/>
        </p:nvPicPr>
        <p:blipFill>
          <a:blip r:embed="rId2"/>
          <a:stretch/>
        </p:blipFill>
        <p:spPr>
          <a:xfrm>
            <a:off x="609480" y="183600"/>
            <a:ext cx="1384920" cy="1173960"/>
          </a:xfrm>
          <a:prstGeom prst="rect">
            <a:avLst/>
          </a:prstGeom>
          <a:ln w="0">
            <a:noFill/>
          </a:ln>
        </p:spPr>
      </p:pic>
      <p:pic>
        <p:nvPicPr>
          <p:cNvPr id="78" name="Imagem 16" descr=""/>
          <p:cNvPicPr/>
          <p:nvPr/>
        </p:nvPicPr>
        <p:blipFill>
          <a:blip r:embed="rId3"/>
          <a:srcRect l="0" t="0" r="26719" b="0"/>
          <a:stretch/>
        </p:blipFill>
        <p:spPr>
          <a:xfrm>
            <a:off x="9426600" y="5657760"/>
            <a:ext cx="2367720" cy="10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1. Objetivo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87" name="TextBox 35"/>
          <p:cNvSpPr/>
          <p:nvPr/>
        </p:nvSpPr>
        <p:spPr>
          <a:xfrm>
            <a:off x="502920" y="979920"/>
            <a:ext cx="11099520" cy="51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401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Objetivo geral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Analisar os impactos do acesso de jovens ao deepfake: o funcionamento dos algoritmos e as consequências do uso indevido, com ênfase na escola.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401"/>
              </a:lnSpc>
              <a:spcBef>
                <a:spcPts val="1199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Quando uma tecnologia é invasiva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Quando viola imagem, voz ou expressão sem consentimento. O deepfake convence quem assiste, então o dano não depende de fraude financeira: a confiança e a privacidade já foram quebradas.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401"/>
              </a:lnSpc>
              <a:spcBef>
                <a:spcPts val="1199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O que a pesquisa percorre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Conceituar a tecnologia invasiva e documentar o algoritmo.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Mostrar o que tirou a barreira técnica e espalhou o conteúdo.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Medir, com 71 respostas, conhecimento, exposição e reação.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2. Os algoritmos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96" name="TextBox 35"/>
          <p:cNvSpPr/>
          <p:nvPr/>
        </p:nvSpPr>
        <p:spPr>
          <a:xfrm>
            <a:off x="502920" y="900000"/>
            <a:ext cx="1109952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A rede não cola um rosto. Ela lê geometria, luz e movimento e devolve uma matriz nova de pixels.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ounded Rectangle 36"/>
          <p:cNvSpPr/>
          <p:nvPr/>
        </p:nvSpPr>
        <p:spPr>
          <a:xfrm>
            <a:off x="500040" y="1580040"/>
            <a:ext cx="3599640" cy="249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9880" rIns="119880" tIns="140040" bIns="45000" anchor="ctr">
            <a:noAutofit/>
          </a:bodyPr>
          <a:p>
            <a:pPr defTabSz="457200">
              <a:lnSpc>
                <a:spcPts val="2001"/>
              </a:lnSpc>
              <a:spcBef>
                <a:spcPts val="201"/>
              </a:spcBef>
              <a:spcAft>
                <a:spcPts val="601"/>
              </a:spcAft>
            </a:pPr>
            <a:r>
              <a:rPr b="1" lang="en-US" sz="1600" spc="-1" strike="noStrike">
                <a:solidFill>
                  <a:srgbClr val="016f89"/>
                </a:solidFill>
                <a:latin typeface="Calibri"/>
                <a:ea typeface="Calibri"/>
              </a:rPr>
              <a:t>Autoencoder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701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Um encoder compartilhado extrai a expressão. Decoders separados trocam a identidade: o rosto de uma pessoa fica com o gesto da outra. A média dos pixels borra a textura.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ectangle 37"/>
          <p:cNvSpPr/>
          <p:nvPr/>
        </p:nvSpPr>
        <p:spPr>
          <a:xfrm>
            <a:off x="500040" y="1580040"/>
            <a:ext cx="3599640" cy="5688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Rounded Rectangle 38"/>
          <p:cNvSpPr/>
          <p:nvPr/>
        </p:nvSpPr>
        <p:spPr>
          <a:xfrm>
            <a:off x="4280040" y="1580040"/>
            <a:ext cx="3599640" cy="249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9880" rIns="119880" tIns="140040" bIns="45000" anchor="ctr">
            <a:noAutofit/>
          </a:bodyPr>
          <a:p>
            <a:pPr defTabSz="457200">
              <a:lnSpc>
                <a:spcPts val="2001"/>
              </a:lnSpc>
              <a:spcBef>
                <a:spcPts val="201"/>
              </a:spcBef>
              <a:spcAft>
                <a:spcPts val="601"/>
              </a:spcAft>
            </a:pPr>
            <a:r>
              <a:rPr b="1" lang="en-US" sz="1600" spc="-1" strike="noStrike">
                <a:solidFill>
                  <a:srgbClr val="016f89"/>
                </a:solidFill>
                <a:latin typeface="Calibri"/>
                <a:ea typeface="Calibri"/>
              </a:rPr>
              <a:t>GAN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701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O gerador fabrica a mídia. O discriminador aponta o que ainda parece falso. A disputa entre os dois reduz o borrão que o autoencoder deixava.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9"/>
          <p:cNvSpPr/>
          <p:nvPr/>
        </p:nvSpPr>
        <p:spPr>
          <a:xfrm>
            <a:off x="4280040" y="1580040"/>
            <a:ext cx="3599640" cy="5688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ounded Rectangle 40"/>
          <p:cNvSpPr/>
          <p:nvPr/>
        </p:nvSpPr>
        <p:spPr>
          <a:xfrm>
            <a:off x="8060040" y="1580040"/>
            <a:ext cx="3599640" cy="24994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19880" rIns="119880" tIns="140040" bIns="45000" anchor="ctr">
            <a:noAutofit/>
          </a:bodyPr>
          <a:p>
            <a:pPr defTabSz="457200">
              <a:lnSpc>
                <a:spcPts val="2001"/>
              </a:lnSpc>
              <a:spcBef>
                <a:spcPts val="201"/>
              </a:spcBef>
              <a:spcAft>
                <a:spcPts val="601"/>
              </a:spcAft>
            </a:pPr>
            <a:r>
              <a:rPr b="1" lang="en-US" sz="1600" spc="-1" strike="noStrike">
                <a:solidFill>
                  <a:srgbClr val="016f89"/>
                </a:solidFill>
                <a:latin typeface="Calibri"/>
                <a:ea typeface="Calibri"/>
              </a:rPr>
              <a:t>Difusão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701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  <a:ea typeface="Calibri"/>
              </a:rPr>
              <a:t>A imagem vira ruído e o modelo aprende o caminho de volta. Pela precisão, é a arquitetura mais usada hoje para deepfake.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ectangle 41"/>
          <p:cNvSpPr/>
          <p:nvPr/>
        </p:nvSpPr>
        <p:spPr>
          <a:xfrm>
            <a:off x="8060040" y="1580040"/>
            <a:ext cx="3599640" cy="5688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240" bIns="122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Rounded Rectangle 42"/>
          <p:cNvSpPr/>
          <p:nvPr/>
        </p:nvSpPr>
        <p:spPr>
          <a:xfrm>
            <a:off x="619920" y="4399920"/>
            <a:ext cx="2499480" cy="45972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15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Propagação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43"/>
          <p:cNvSpPr/>
          <p:nvPr/>
        </p:nvSpPr>
        <p:spPr>
          <a:xfrm>
            <a:off x="3080160" y="4460040"/>
            <a:ext cx="359640" cy="3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2200"/>
              </a:lnSpc>
            </a:pPr>
            <a:r>
              <a:rPr b="1" lang="en-US" sz="2200" spc="-1" strike="noStrike">
                <a:solidFill>
                  <a:srgbClr val="016f89"/>
                </a:solidFill>
                <a:latin typeface="Calibri"/>
                <a:ea typeface="Calibri"/>
              </a:rPr>
              <a:t>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44"/>
          <p:cNvSpPr/>
          <p:nvPr/>
        </p:nvSpPr>
        <p:spPr>
          <a:xfrm>
            <a:off x="3399840" y="4399920"/>
            <a:ext cx="2499480" cy="45972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15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Perda (MSE)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45"/>
          <p:cNvSpPr/>
          <p:nvPr/>
        </p:nvSpPr>
        <p:spPr>
          <a:xfrm>
            <a:off x="5860080" y="4460040"/>
            <a:ext cx="359640" cy="3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2200"/>
              </a:lnSpc>
            </a:pPr>
            <a:r>
              <a:rPr b="1" lang="en-US" sz="2200" spc="-1" strike="noStrike">
                <a:solidFill>
                  <a:srgbClr val="016f89"/>
                </a:solidFill>
                <a:latin typeface="Calibri"/>
                <a:ea typeface="Calibri"/>
              </a:rPr>
              <a:t>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ounded Rectangle 46"/>
          <p:cNvSpPr/>
          <p:nvPr/>
        </p:nvSpPr>
        <p:spPr>
          <a:xfrm>
            <a:off x="6180120" y="4399920"/>
            <a:ext cx="2499480" cy="45972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15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Retropropagação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Box 47"/>
          <p:cNvSpPr/>
          <p:nvPr/>
        </p:nvSpPr>
        <p:spPr>
          <a:xfrm>
            <a:off x="8640000" y="4460040"/>
            <a:ext cx="359640" cy="3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2200"/>
              </a:lnSpc>
            </a:pPr>
            <a:r>
              <a:rPr b="1" lang="en-US" sz="2200" spc="-1" strike="noStrike">
                <a:solidFill>
                  <a:srgbClr val="016f89"/>
                </a:solidFill>
                <a:latin typeface="Calibri"/>
                <a:ea typeface="Calibri"/>
              </a:rPr>
              <a:t>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48"/>
          <p:cNvSpPr/>
          <p:nvPr/>
        </p:nvSpPr>
        <p:spPr>
          <a:xfrm>
            <a:off x="8960040" y="4399920"/>
            <a:ext cx="2499480" cy="459720"/>
          </a:xfrm>
          <a:prstGeom prst="roundRect">
            <a:avLst>
              <a:gd name="adj" fmla="val 50000"/>
            </a:avLst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ts val="15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Gradiente descendente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49"/>
          <p:cNvSpPr/>
          <p:nvPr/>
        </p:nvSpPr>
        <p:spPr>
          <a:xfrm>
            <a:off x="502920" y="5000040"/>
            <a:ext cx="1109952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O ciclo recomeça com pesos aleatórios e se repete milhares de vezes, até o erro se aproximar de zero. É esse loop que torna a mídia convincente.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3. O acesso ficou fácil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19" name="TextBox 35"/>
          <p:cNvSpPr/>
          <p:nvPr/>
        </p:nvSpPr>
        <p:spPr>
          <a:xfrm>
            <a:off x="502920" y="979920"/>
            <a:ext cx="11099520" cy="51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401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Da especialização ao plug-and-play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O que exigia semanas de trabalho técnico virou aplicativo gratuito e alguns minutos. O modelo atual não precisa mais ser treinado para cada pessoa.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401"/>
              </a:lnSpc>
              <a:spcBef>
                <a:spcPts val="1199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Como o conteúdo se espalha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A rede encurta o intervalo entre criar e circular a mídia.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Mensagens e redes sociais divulgam rápido e dificultam a contenção depois da primeira partilha.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401"/>
              </a:lnSpc>
              <a:spcBef>
                <a:spcPts val="1199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O jovem já está dentro desse ambiente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TIC Kids Online 2025: quase dois terços dos usuários de 9 a 17 anos já usam IA. A principal finalidade é a escola (59%); cerca de 10% usam para questões pessoais.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Unicef (2026): cerca de dois terços das crianças temem que a IA falsifique fotos ou vídeos de cunho sexual contra elas.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Habilidade para operar o aplicativo não é a mesma coisa que prever a consequência ética e legal.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4. Amostra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28" name="TextBox 35"/>
          <p:cNvSpPr/>
          <p:nvPr/>
        </p:nvSpPr>
        <p:spPr>
          <a:xfrm>
            <a:off x="502920" y="900000"/>
            <a:ext cx="1109952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71 respostas válidas, em sua maioria no Rio de Janeiro. Frequências, qui-quadrado e teste exato de Fisher (p &lt; 0,05).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" name="Picture 36" descr="image.png"/>
          <p:cNvPicPr/>
          <p:nvPr/>
        </p:nvPicPr>
        <p:blipFill>
          <a:blip r:embed="rId2"/>
          <a:stretch/>
        </p:blipFill>
        <p:spPr>
          <a:xfrm>
            <a:off x="349920" y="1479960"/>
            <a:ext cx="5599800" cy="3899520"/>
          </a:xfrm>
          <a:prstGeom prst="rect">
            <a:avLst/>
          </a:prstGeom>
          <a:ln w="0">
            <a:noFill/>
          </a:ln>
        </p:spPr>
      </p:pic>
      <p:pic>
        <p:nvPicPr>
          <p:cNvPr id="130" name="Picture 37" descr="image.png"/>
          <p:cNvPicPr/>
          <p:nvPr/>
        </p:nvPicPr>
        <p:blipFill>
          <a:blip r:embed="rId3"/>
          <a:stretch/>
        </p:blipFill>
        <p:spPr>
          <a:xfrm>
            <a:off x="6099840" y="1479960"/>
            <a:ext cx="5699520" cy="3899520"/>
          </a:xfrm>
          <a:prstGeom prst="rect">
            <a:avLst/>
          </a:prstGeom>
          <a:ln w="0">
            <a:noFill/>
          </a:ln>
        </p:spPr>
      </p:pic>
      <p:sp>
        <p:nvSpPr>
          <p:cNvPr id="131" name="TextBox 38"/>
          <p:cNvSpPr/>
          <p:nvPr/>
        </p:nvSpPr>
        <p:spPr>
          <a:xfrm>
            <a:off x="502920" y="5479920"/>
            <a:ext cx="110995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45,1% ainda cursam o ensino superior. A faixa de 13 a 17 anos tem 5 pessoas: os dados da infância citados adiante vêm da literatura, não desta amostra.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5. Resultados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40" name="TextBox 35"/>
          <p:cNvSpPr/>
          <p:nvPr/>
        </p:nvSpPr>
        <p:spPr>
          <a:xfrm>
            <a:off x="502920" y="879840"/>
            <a:ext cx="11099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401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Conhecer o nome não é saber se defender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Picture 36" descr="image.png"/>
          <p:cNvPicPr/>
          <p:nvPr/>
        </p:nvPicPr>
        <p:blipFill>
          <a:blip r:embed="rId2"/>
          <a:stretch/>
        </p:blipFill>
        <p:spPr>
          <a:xfrm>
            <a:off x="280080" y="1400040"/>
            <a:ext cx="3799800" cy="3999600"/>
          </a:xfrm>
          <a:prstGeom prst="rect">
            <a:avLst/>
          </a:prstGeom>
          <a:ln w="0">
            <a:noFill/>
          </a:ln>
        </p:spPr>
      </p:pic>
      <p:pic>
        <p:nvPicPr>
          <p:cNvPr id="142" name="Picture 37" descr="image.png"/>
          <p:cNvPicPr/>
          <p:nvPr/>
        </p:nvPicPr>
        <p:blipFill>
          <a:blip r:embed="rId3"/>
          <a:stretch/>
        </p:blipFill>
        <p:spPr>
          <a:xfrm>
            <a:off x="4230000" y="1400040"/>
            <a:ext cx="3799800" cy="3999600"/>
          </a:xfrm>
          <a:prstGeom prst="rect">
            <a:avLst/>
          </a:prstGeom>
          <a:ln w="0">
            <a:noFill/>
          </a:ln>
        </p:spPr>
      </p:pic>
      <p:pic>
        <p:nvPicPr>
          <p:cNvPr id="143" name="Picture 38" descr="image.png"/>
          <p:cNvPicPr/>
          <p:nvPr/>
        </p:nvPicPr>
        <p:blipFill>
          <a:blip r:embed="rId4"/>
          <a:stretch/>
        </p:blipFill>
        <p:spPr>
          <a:xfrm>
            <a:off x="8179920" y="1400040"/>
            <a:ext cx="3799800" cy="3999600"/>
          </a:xfrm>
          <a:prstGeom prst="rect">
            <a:avLst/>
          </a:prstGeom>
          <a:ln w="0">
            <a:noFill/>
          </a:ln>
        </p:spPr>
      </p:pic>
      <p:sp>
        <p:nvSpPr>
          <p:cNvPr id="144" name="TextBox 39"/>
          <p:cNvSpPr/>
          <p:nvPr/>
        </p:nvSpPr>
        <p:spPr>
          <a:xfrm>
            <a:off x="502920" y="5479920"/>
            <a:ext cx="110995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N = 71. A fatia escura da terceira pizza é quem não sabe verificar a mídia. São quase 40 pontos abaixo de quem só conhece o termo.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6. Exposição e reação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53" name="TextBox 35"/>
          <p:cNvSpPr/>
          <p:nvPr/>
        </p:nvSpPr>
        <p:spPr>
          <a:xfrm>
            <a:off x="502920" y="879840"/>
            <a:ext cx="1109952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À direita, só entram os casos em que a pessoa sofreu um ataque ou conhece uma vítima.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Picture 36" descr="image.png"/>
          <p:cNvPicPr/>
          <p:nvPr/>
        </p:nvPicPr>
        <p:blipFill>
          <a:blip r:embed="rId2"/>
          <a:stretch/>
        </p:blipFill>
        <p:spPr>
          <a:xfrm>
            <a:off x="399960" y="1379880"/>
            <a:ext cx="5599800" cy="3999600"/>
          </a:xfrm>
          <a:prstGeom prst="rect">
            <a:avLst/>
          </a:prstGeom>
          <a:ln w="0">
            <a:noFill/>
          </a:ln>
        </p:spPr>
      </p:pic>
      <p:pic>
        <p:nvPicPr>
          <p:cNvPr id="155" name="Picture 37" descr="image.png"/>
          <p:cNvPicPr/>
          <p:nvPr/>
        </p:nvPicPr>
        <p:blipFill>
          <a:blip r:embed="rId3"/>
          <a:stretch/>
        </p:blipFill>
        <p:spPr>
          <a:xfrm>
            <a:off x="6099840" y="1379880"/>
            <a:ext cx="5699520" cy="3999600"/>
          </a:xfrm>
          <a:prstGeom prst="rect">
            <a:avLst/>
          </a:prstGeom>
          <a:ln w="0">
            <a:noFill/>
          </a:ln>
        </p:spPr>
      </p:pic>
      <p:sp>
        <p:nvSpPr>
          <p:cNvPr id="156" name="TextBox 38"/>
          <p:cNvSpPr/>
          <p:nvPr/>
        </p:nvSpPr>
        <p:spPr>
          <a:xfrm>
            <a:off x="502920" y="5479920"/>
            <a:ext cx="110995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Silêncio e “não se sabe” somam 65,5%. A minoria procurou a polícia ou um adulto.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7. Gênero e defesa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65" name="TextBox 35"/>
          <p:cNvSpPr/>
          <p:nvPr/>
        </p:nvSpPr>
        <p:spPr>
          <a:xfrm>
            <a:off x="502920" y="900000"/>
            <a:ext cx="1109952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Conhecimento de ferramentas de detecção. A comparação é feminino × masculino (n = 69); não binário tem 2 pessoas.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" name="Picture 36" descr="image.png"/>
          <p:cNvPicPr/>
          <p:nvPr/>
        </p:nvPicPr>
        <p:blipFill>
          <a:blip r:embed="rId2"/>
          <a:stretch/>
        </p:blipFill>
        <p:spPr>
          <a:xfrm>
            <a:off x="399960" y="1500120"/>
            <a:ext cx="5599800" cy="3799800"/>
          </a:xfrm>
          <a:prstGeom prst="rect">
            <a:avLst/>
          </a:prstGeom>
          <a:ln w="0">
            <a:noFill/>
          </a:ln>
        </p:spPr>
      </p:pic>
      <p:pic>
        <p:nvPicPr>
          <p:cNvPr id="167" name="Picture 37" descr="image.png"/>
          <p:cNvPicPr/>
          <p:nvPr/>
        </p:nvPicPr>
        <p:blipFill>
          <a:blip r:embed="rId3"/>
          <a:stretch/>
        </p:blipFill>
        <p:spPr>
          <a:xfrm>
            <a:off x="6099840" y="1500120"/>
            <a:ext cx="5699520" cy="3799800"/>
          </a:xfrm>
          <a:prstGeom prst="rect">
            <a:avLst/>
          </a:prstGeom>
          <a:ln w="0">
            <a:noFill/>
          </a:ln>
        </p:spPr>
      </p:pic>
      <p:sp>
        <p:nvSpPr>
          <p:cNvPr id="168" name="TextBox 38"/>
          <p:cNvSpPr/>
          <p:nvPr/>
        </p:nvSpPr>
        <p:spPr>
          <a:xfrm>
            <a:off x="502920" y="5400000"/>
            <a:ext cx="1109952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Fisher p = 0,054: cerca de 3,3 vezes mais chance de os homens conhecerem a ferramenta. No limite da significância. Escolaridade, renda e idade não explicaram esse conhecimento.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1"/>
          <p:cNvSpPr/>
          <p:nvPr/>
        </p:nvSpPr>
        <p:spPr>
          <a:xfrm>
            <a:off x="0" y="0"/>
            <a:ext cx="12191760" cy="738720"/>
          </a:xfrm>
          <a:prstGeom prst="rect">
            <a:avLst/>
          </a:prstGeom>
          <a:solidFill>
            <a:srgbClr val="016f8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Rectangle 2"/>
          <p:cNvSpPr/>
          <p:nvPr/>
        </p:nvSpPr>
        <p:spPr>
          <a:xfrm>
            <a:off x="0" y="6410160"/>
            <a:ext cx="12191760" cy="447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3"/>
          <p:cNvSpPr/>
          <p:nvPr/>
        </p:nvSpPr>
        <p:spPr>
          <a:xfrm>
            <a:off x="0" y="700920"/>
            <a:ext cx="12191760" cy="37800"/>
          </a:xfrm>
          <a:prstGeom prst="rect">
            <a:avLst/>
          </a:prstGeom>
          <a:solidFill>
            <a:srgbClr val="00c2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4"/>
          <p:cNvSpPr/>
          <p:nvPr/>
        </p:nvSpPr>
        <p:spPr>
          <a:xfrm>
            <a:off x="0" y="6410160"/>
            <a:ext cx="12191760" cy="900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24"/>
          <p:cNvSpPr/>
          <p:nvPr/>
        </p:nvSpPr>
        <p:spPr>
          <a:xfrm>
            <a:off x="457200" y="190440"/>
            <a:ext cx="85996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2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Calibri"/>
                <a:ea typeface="Calibri"/>
              </a:rPr>
              <a:t>8. Impactos e conclusão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25"/>
          <p:cNvSpPr/>
          <p:nvPr/>
        </p:nvSpPr>
        <p:spPr>
          <a:xfrm>
            <a:off x="457200" y="6553080"/>
            <a:ext cx="7799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00"/>
              </a:lnSpc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Deepfake, riscos e algoritmos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27"/>
          <p:cNvSpPr/>
          <p:nvPr/>
        </p:nvSpPr>
        <p:spPr>
          <a:xfrm>
            <a:off x="10293840" y="264600"/>
            <a:ext cx="134856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X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IV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 JIC UNESA 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(</a:t>
            </a:r>
            <a:r>
              <a:rPr b="1" lang="en-US" sz="1050" spc="-1" strike="noStrike">
                <a:solidFill>
                  <a:srgbClr val="a5f3fc"/>
                </a:solidFill>
                <a:latin typeface="Montserrat"/>
              </a:rPr>
              <a:t>2026</a:t>
            </a:r>
            <a:r>
              <a:rPr b="1" lang="pt-BR" sz="1050" spc="-1" strike="noStrike">
                <a:solidFill>
                  <a:srgbClr val="a5f3fc"/>
                </a:solidFill>
                <a:latin typeface="Montserrat"/>
              </a:rPr>
              <a:t>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" name="Picture 9" descr=""/>
          <p:cNvPicPr/>
          <p:nvPr/>
        </p:nvPicPr>
        <p:blipFill>
          <a:blip r:embed="rId1"/>
          <a:stretch/>
        </p:blipFill>
        <p:spPr>
          <a:xfrm>
            <a:off x="9716400" y="124920"/>
            <a:ext cx="461520" cy="391320"/>
          </a:xfrm>
          <a:prstGeom prst="rect">
            <a:avLst/>
          </a:prstGeom>
          <a:ln w="0">
            <a:noFill/>
          </a:ln>
        </p:spPr>
      </p:pic>
      <p:sp>
        <p:nvSpPr>
          <p:cNvPr id="177" name="TextBox 35"/>
          <p:cNvSpPr/>
          <p:nvPr/>
        </p:nvSpPr>
        <p:spPr>
          <a:xfrm>
            <a:off x="502920" y="960120"/>
            <a:ext cx="11099520" cy="52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ts val="2401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O que o uso indevido provoca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Nudificação: uma foto cotidiana vira nudez sintética.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Na literatura do relatório, cerca de 95% da pornografia deepfake mira mulheres e meninas. O Unicef estima 1,2 milhão de crianças atingidas, em 11 países, no ano anterior ao relatório de 2026.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Na escola, isso vira exposição e cyberbullying. O silêncio medido na amostra deixa o conteúdo circular.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Aft>
                <a:spcPts val="601"/>
              </a:spcAft>
            </a:pP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O grupo mais visado é o que, nesta amostra, menos conhece as ferramentas de defesa.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401"/>
              </a:lnSpc>
              <a:spcBef>
                <a:spcPts val="1199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016f89"/>
                </a:solidFill>
                <a:latin typeface="Calibri"/>
                <a:ea typeface="Calibri"/>
              </a:rPr>
              <a:t>Conclusão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O acesso ficou fácil, e a familiaridade com o termo não virou capacidade de verificação.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A exposição já é concreta, e a reação mais comum é o silêncio.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2200"/>
              </a:lnSpc>
              <a:spcBef>
                <a:spcPts val="99"/>
              </a:spcBef>
              <a:spcAft>
                <a:spcPts val="300"/>
              </a:spcAft>
            </a:pPr>
            <a:r>
              <a:rPr b="1" lang="en-US" sz="1700" spc="-1" strike="noStrike">
                <a:solidFill>
                  <a:srgbClr val="016f89"/>
                </a:solidFill>
                <a:latin typeface="Calibri"/>
                <a:ea typeface="Calibri"/>
              </a:rPr>
              <a:t>•  </a:t>
            </a:r>
            <a:r>
              <a:rPr b="0" lang="en-US" sz="1700" spc="-1" strike="noStrike">
                <a:solidFill>
                  <a:srgbClr val="1e293b"/>
                </a:solidFill>
                <a:latin typeface="Calibri"/>
                <a:ea typeface="Calibri"/>
              </a:rPr>
              <a:t>O enfrentamento apontado é o letramento digital na educação básica.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800"/>
              </a:lnSpc>
              <a:spcBef>
                <a:spcPts val="400"/>
              </a:spcBef>
              <a:spcAft>
                <a:spcPts val="201"/>
              </a:spcAft>
            </a:pPr>
            <a:r>
              <a:rPr b="0" lang="en-US" sz="1400" spc="-1" strike="noStrike">
                <a:solidFill>
                  <a:srgbClr val="475569"/>
                </a:solidFill>
                <a:latin typeface="Calibri"/>
                <a:ea typeface="Calibri"/>
              </a:rPr>
              <a:t>Próximo passo do relatório: ampliar a amostra e testar ações de letramento com o público infantojuvenil.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2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Picture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79" name="Rectangle 2"/>
          <p:cNvSpPr/>
          <p:nvPr/>
        </p:nvSpPr>
        <p:spPr>
          <a:xfrm>
            <a:off x="609480" y="5143680"/>
            <a:ext cx="10972440" cy="1104480"/>
          </a:xfrm>
          <a:prstGeom prst="rect">
            <a:avLst/>
          </a:prstGeom>
          <a:noFill/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ounded Rectangle 3"/>
          <p:cNvSpPr/>
          <p:nvPr/>
        </p:nvSpPr>
        <p:spPr>
          <a:xfrm>
            <a:off x="4133880" y="3676680"/>
            <a:ext cx="3924000" cy="456840"/>
          </a:xfrm>
          <a:prstGeom prst="roundRect">
            <a:avLst>
              <a:gd name="adj" fmla="val 50000"/>
            </a:avLst>
          </a:prstGeom>
          <a:solidFill>
            <a:srgbClr val="1a8096"/>
          </a:solidFill>
          <a:ln>
            <a:solidFill>
              <a:srgbClr val="338ea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Rectangle 4"/>
          <p:cNvSpPr/>
          <p:nvPr/>
        </p:nvSpPr>
        <p:spPr>
          <a:xfrm>
            <a:off x="609480" y="5143680"/>
            <a:ext cx="10972440" cy="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5640" bIns="-35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7"/>
          <p:cNvSpPr/>
          <p:nvPr/>
        </p:nvSpPr>
        <p:spPr>
          <a:xfrm>
            <a:off x="4668120" y="2228760"/>
            <a:ext cx="285552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600" spc="-1" strike="noStrike">
                <a:solidFill>
                  <a:srgbClr val="ffffff"/>
                </a:solidFill>
                <a:latin typeface="Montserrat"/>
              </a:rPr>
              <a:t>Obrigado(a)!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9"/>
          <p:cNvSpPr/>
          <p:nvPr/>
        </p:nvSpPr>
        <p:spPr>
          <a:xfrm>
            <a:off x="5038200" y="5381640"/>
            <a:ext cx="21150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bae6fd"/>
                </a:solidFill>
                <a:latin typeface="Open Sans"/>
              </a:rPr>
              <a:t>APOIO &amp; AGÊNCIAS DE FOMENTO: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10"/>
          <p:cNvSpPr/>
          <p:nvPr/>
        </p:nvSpPr>
        <p:spPr>
          <a:xfrm>
            <a:off x="4133880" y="3800520"/>
            <a:ext cx="39240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457200">
              <a:lnSpc>
                <a:spcPts val="1599"/>
              </a:lnSpc>
            </a:pPr>
            <a:r>
              <a:rPr b="1" lang="en-US" sz="1300" spc="-1" strike="noStrike">
                <a:solidFill>
                  <a:srgbClr val="a5f3fc"/>
                </a:solidFill>
                <a:latin typeface="Calibri"/>
                <a:ea typeface="Calibri"/>
              </a:rPr>
              <a:t>lucasmatias2005@gmail.com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Picture 9" descr=""/>
          <p:cNvPicPr/>
          <p:nvPr/>
        </p:nvPicPr>
        <p:blipFill>
          <a:blip r:embed="rId2"/>
          <a:stretch/>
        </p:blipFill>
        <p:spPr>
          <a:xfrm>
            <a:off x="5290200" y="645480"/>
            <a:ext cx="1452240" cy="1375560"/>
          </a:xfrm>
          <a:prstGeom prst="rect">
            <a:avLst/>
          </a:prstGeom>
          <a:ln w="0">
            <a:noFill/>
          </a:ln>
        </p:spPr>
      </p:pic>
      <p:pic>
        <p:nvPicPr>
          <p:cNvPr id="186" name="Imagem 12" descr=""/>
          <p:cNvPicPr/>
          <p:nvPr/>
        </p:nvPicPr>
        <p:blipFill>
          <a:blip r:embed="rId3"/>
          <a:srcRect l="0" t="0" r="26719" b="0"/>
          <a:stretch/>
        </p:blipFill>
        <p:spPr>
          <a:xfrm>
            <a:off x="4903920" y="5446080"/>
            <a:ext cx="2383920" cy="1265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312</TotalTime>
  <Application>LibreOffice/24.2.7.2$Linux_X86_64 LibreOffice_project/420$Build-2</Application>
  <AppVersion>15.0000</AppVersion>
  <Words>115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User</cp:lastModifiedBy>
  <dcterms:modified xsi:type="dcterms:W3CDTF">2026-10-01T20:10:08Z</dcterms:modified>
  <cp:revision>9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4</vt:r8>
  </property>
</Properties>
</file>